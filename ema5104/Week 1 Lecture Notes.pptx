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3" r:id="rId2"/>
    <p:sldId id="257" r:id="rId3"/>
    <p:sldId id="258" r:id="rId4"/>
    <p:sldId id="259" r:id="rId5"/>
    <p:sldId id="274" r:id="rId6"/>
    <p:sldId id="276" r:id="rId7"/>
    <p:sldId id="280" r:id="rId8"/>
    <p:sldId id="278" r:id="rId9"/>
    <p:sldId id="275" r:id="rId10"/>
    <p:sldId id="279" r:id="rId11"/>
    <p:sldId id="282" r:id="rId12"/>
    <p:sldId id="277" r:id="rId13"/>
    <p:sldId id="281" r:id="rId14"/>
    <p:sldId id="283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691114B-9774-4CDF-8E31-43610E9818D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63271C1-E004-459B-A47E-FF805D823A3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5C05861C-5850-4479-A362-8E1429B44A0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CFB761BD-90EC-4203-84B5-D903E129A9B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C1E534B-0ED3-40D0-A54E-B41AA006B5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5AA16A9-CDC9-40B6-938A-B0D2B9A2BA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A5D6E766-A4ED-484F-BC51-597220AD645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2758E083-EE11-4441-BBD5-D120417732D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9E748874-EF52-4729-88B2-92E65D45FC8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1B582225-AA8A-4735-B2F6-88C9890DB6D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3FDE9F04-CF8B-4996-861F-11E487073D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6BA723A9-184C-486C-B038-F966A81656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701593F6-FF71-4475-9883-9317429F9F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0DA008C-A3E2-4BF3-98FA-7FEDCBFC1DB4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3A47FB57-532F-49E7-9E9F-3E32DEAE3D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78AB200-529B-4C4E-A539-F614F2BB93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683B8D-7546-4FF5-B786-66D87BF210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03A27BF-7131-4848-B812-E791C3BAD6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5FA8ADA-5A5B-4188-9A17-C29B648BC58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DDF671-5544-4223-9544-7F8EF2E4B6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0458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14327F-CFA8-4406-827F-BAD8A16FAF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2EDE534-5FA9-48B5-8368-90A34BBD52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E883959-500F-48BB-91F4-92BC0775D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2EFC9B-4C86-49E6-8BC4-86B2EE49E5D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565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399092B-3F96-493F-A093-CE707EBAD1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1CA03F-F001-490F-89DD-E9ED2A1975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2A34059-FA76-47A8-A4AF-A4E73BB504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5376FB-8313-43FA-90F5-5138109E56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66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32E1CE-C3DF-491A-B736-E7527E9234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A69EB-107E-49F6-A2ED-9AF0D4F679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958145-278C-4B8A-9722-B4722BDBB9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2D16BC-4E0F-4DF1-B0EB-E06A7FA2C9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6992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253DCEA-F25E-493B-98CE-4F6DC84235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CCE1721-0474-44A3-B112-4F54AD9F64F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39A273E-6879-4ADF-A510-51BD1EC8E6D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3DA5E4-3486-4585-9E27-0E52D6EE51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7207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BFE924D-D1E1-41EB-96DE-432388DF30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7CF45FF-D449-4796-8E7F-3A2A265498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C3FA07D-3256-4312-95D0-18EA288589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5D2A44-1271-44C4-953D-BD726833695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9798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4606B63-90C6-471B-9D1F-F5169B5AEE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0F83811-1F19-4FD0-B0DC-359B6596B2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7E86AAC-3050-48AD-8FAD-F0742CCF98E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4B0C0-9ACB-47CA-A586-DF62979073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0701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B7E11D-C718-4754-AEDB-75462B1B768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DC8FE8-7685-4050-8E2E-CA4AC9CAE3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862AB-CA05-4CC8-AA86-AF4F65C9FC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6B4214-4FCF-437F-BA71-0F9620EDDE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842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C99AA-3484-488F-936D-8F19454767C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6206BD-A882-4F19-A9F9-378472E53C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0BB5F5-B062-464A-B241-57CE552372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D52DFB-4844-49BB-8899-AC307F3F3A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0113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ADEBD4B-913B-4A3B-B71C-C001C6BFAD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4AB6F7A-4E4E-4BD2-8F62-11E6B904CEB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D9CCD0-DF7B-44AA-8491-FB44D14EA7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2AA2D-5E96-4AC5-A9F6-633649C9DB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4415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3AEC5A-BCEB-43E0-90D8-5E34442B1E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250C89-0F70-4BFF-A531-1346EA60C6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BA8B99-5906-46CC-AA25-A8D633FAB8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4D2C27-FED6-4E73-B953-80BD620FB0E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7405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59E75B4-4BF6-4186-9FB4-C33719312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2BFF9BE-4071-4C3B-B41E-B1AEBEB39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3471AB2-2E0A-4A7B-86D9-11ED8A46C2E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5A5B02D-2F03-4F5D-B4DB-3669047C3D2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03AA951-65D9-402A-A369-3C1D482274A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945036BB-0A1A-4150-99D5-CF4F79F0F1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3">
            <a:extLst>
              <a:ext uri="{FF2B5EF4-FFF2-40B4-BE49-F238E27FC236}">
                <a16:creationId xmlns:a16="http://schemas.microsoft.com/office/drawing/2014/main" id="{9D45ED28-E5C2-4FE8-8DEB-F06D4B8C9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143000"/>
            <a:ext cx="73152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>
                <a:latin typeface="Britannic Bold" panose="020B0903060703020204" pitchFamily="34" charset="0"/>
              </a:rPr>
              <a:t>Department of Research </a:t>
            </a:r>
          </a:p>
          <a:p>
            <a:pPr algn="ctr"/>
            <a:r>
              <a:rPr lang="en-US" altLang="en-US" sz="3200">
                <a:latin typeface="Britannic Bold" panose="020B0903060703020204" pitchFamily="34" charset="0"/>
              </a:rPr>
              <a:t>&amp;                                                     Graduate Studies</a:t>
            </a:r>
          </a:p>
        </p:txBody>
      </p:sp>
      <p:sp>
        <p:nvSpPr>
          <p:cNvPr id="4099" name="TextBox 4">
            <a:extLst>
              <a:ext uri="{FF2B5EF4-FFF2-40B4-BE49-F238E27FC236}">
                <a16:creationId xmlns:a16="http://schemas.microsoft.com/office/drawing/2014/main" id="{F16E8AA8-64D7-4919-B863-C6312B26B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950" y="3059113"/>
            <a:ext cx="71564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Britannic Bold" panose="020B0903060703020204" pitchFamily="34" charset="0"/>
              </a:rPr>
              <a:t>EMA 5104: Methods of Teaching Mathematics at the Secondary Level</a:t>
            </a:r>
          </a:p>
        </p:txBody>
      </p:sp>
      <p:sp>
        <p:nvSpPr>
          <p:cNvPr id="4100" name="TextBox 5">
            <a:extLst>
              <a:ext uri="{FF2B5EF4-FFF2-40B4-BE49-F238E27FC236}">
                <a16:creationId xmlns:a16="http://schemas.microsoft.com/office/drawing/2014/main" id="{6A1B3071-1AD4-4B6F-9E17-2C4B73DB2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191000"/>
            <a:ext cx="457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Britannic Bold" panose="020B0903060703020204" pitchFamily="34" charset="0"/>
              </a:rPr>
              <a:t>Lecture Notes: 1</a:t>
            </a:r>
          </a:p>
        </p:txBody>
      </p:sp>
      <p:sp>
        <p:nvSpPr>
          <p:cNvPr id="4101" name="TextBox 6">
            <a:extLst>
              <a:ext uri="{FF2B5EF4-FFF2-40B4-BE49-F238E27FC236}">
                <a16:creationId xmlns:a16="http://schemas.microsoft.com/office/drawing/2014/main" id="{AA1E6DCF-3DCE-443B-9B1F-D58F4A66A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105400"/>
            <a:ext cx="28194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dirty="0">
                <a:latin typeface="Aparajita" panose="02020603050405020304" pitchFamily="18" charset="0"/>
                <a:cs typeface="Aparajita" panose="02020603050405020304" pitchFamily="18" charset="0"/>
              </a:rPr>
              <a:t>Lecturer: Peter Wintz</a:t>
            </a:r>
          </a:p>
          <a:p>
            <a:r>
              <a:rPr lang="en-US" altLang="en-US" dirty="0">
                <a:latin typeface="Aparajita" panose="02020603050405020304" pitchFamily="18" charset="0"/>
                <a:cs typeface="Aparajita" panose="02020603050405020304" pitchFamily="18" charset="0"/>
              </a:rPr>
              <a:t>Semester 1</a:t>
            </a:r>
            <a:r>
              <a:rPr lang="en-US" altLang="en-US">
                <a:latin typeface="Aparajita" panose="02020603050405020304" pitchFamily="18" charset="0"/>
                <a:cs typeface="Aparajita" panose="02020603050405020304" pitchFamily="18" charset="0"/>
              </a:rPr>
              <a:t>: 2026</a:t>
            </a:r>
            <a:endParaRPr lang="en-US" altLang="en-US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B77405C-4CF5-40AE-BE72-C676A8190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4000">
                <a:latin typeface="Britannic Bold" panose="020B0903060703020204" pitchFamily="34" charset="0"/>
              </a:rPr>
              <a:t>Common Mistakes Teachers Make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3CD8011-A7AD-40CB-9CDA-D1162186AF3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43000" y="2438400"/>
            <a:ext cx="7010400" cy="3124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   Belittling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   Humiliating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   Criticising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   Fault-finding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   Threatening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>
            <a:extLst>
              <a:ext uri="{FF2B5EF4-FFF2-40B4-BE49-F238E27FC236}">
                <a16:creationId xmlns:a16="http://schemas.microsoft.com/office/drawing/2014/main" id="{451204E4-1855-490F-8135-7C29EB049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951038"/>
            <a:ext cx="6629400" cy="452596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  Mortification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  Neglect/Disregard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  Pampering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  Instilling fear &amp; anxiety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  Nagging</a:t>
            </a:r>
          </a:p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en-US"/>
              <a:t>  Physical punishment</a:t>
            </a: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4A24313D-EFFD-4FAA-B7F2-ECD1253A6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dirty="0">
                <a:latin typeface="Britannic Bold" panose="020B0903060703020204" pitchFamily="34" charset="0"/>
              </a:rPr>
              <a:t>Common Mistakes Teachers Make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0E87162-769A-4E83-B2FC-A6915C8D92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en-US" altLang="en-US">
                <a:latin typeface="Britannic Bold" panose="020B0903060703020204" pitchFamily="34" charset="0"/>
              </a:rPr>
              <a:t>Children Respond To: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C233943-FDCE-44DD-807A-7EE06DFC44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874838"/>
            <a:ext cx="65532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/>
              <a:t>  Consistency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/>
              <a:t>  Flexibility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/>
              <a:t>  Fairness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/>
              <a:t>  Natural confidence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/>
              <a:t>  Love and affection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/>
              <a:t>  Respect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/>
              <a:t>  Attention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048B7C50-8058-46FF-B0E1-768B53C7365E}"/>
              </a:ext>
            </a:extLst>
          </p:cNvPr>
          <p:cNvSpPr txBox="1">
            <a:spLocks noChangeArrowheads="1"/>
          </p:cNvSpPr>
          <p:nvPr/>
        </p:nvSpPr>
        <p:spPr>
          <a:xfrm>
            <a:off x="434566" y="533400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4000" kern="0" dirty="0">
                <a:latin typeface="Britannic Bold" panose="020B0903060703020204" pitchFamily="34" charset="0"/>
              </a:rPr>
              <a:t>What is Mathematics?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504A146-BA2C-4BDE-901A-953929AA8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33" y="1981420"/>
            <a:ext cx="8184333" cy="406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972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A41E3-38A4-4714-A776-D6FB41EA4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940" y="2302818"/>
            <a:ext cx="8148119" cy="29069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B3ACE3-DEDC-4088-BE22-5C6C27C23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5334000"/>
            <a:ext cx="2716040" cy="280657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FCB94DDC-3FD4-411D-9627-BB2C74BFB614}"/>
              </a:ext>
            </a:extLst>
          </p:cNvPr>
          <p:cNvSpPr txBox="1">
            <a:spLocks noChangeArrowheads="1"/>
          </p:cNvSpPr>
          <p:nvPr/>
        </p:nvSpPr>
        <p:spPr>
          <a:xfrm>
            <a:off x="497940" y="671843"/>
            <a:ext cx="7520448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4000" kern="0" dirty="0">
                <a:latin typeface="Britannic Bold" panose="020B0903060703020204" pitchFamily="34" charset="0"/>
              </a:rPr>
              <a:t>What is Mathematics?</a:t>
            </a:r>
          </a:p>
        </p:txBody>
      </p:sp>
    </p:spTree>
    <p:extLst>
      <p:ext uri="{BB962C8B-B14F-4D97-AF65-F5344CB8AC3E}">
        <p14:creationId xmlns:p14="http://schemas.microsoft.com/office/powerpoint/2010/main" val="3394114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437A3E-3C89-404F-8090-C709F446E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61" y="1785796"/>
            <a:ext cx="8039477" cy="3776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23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828B6D-26AC-4C49-A321-39E259493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66" y="2083806"/>
            <a:ext cx="7822194" cy="19012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477291-20B0-4065-A984-D9C1BB583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800" y="3985034"/>
            <a:ext cx="7134131" cy="1348966"/>
          </a:xfrm>
          <a:prstGeom prst="rect">
            <a:avLst/>
          </a:prstGeom>
        </p:spPr>
      </p:pic>
      <p:sp>
        <p:nvSpPr>
          <p:cNvPr id="11" name="Rectangle 2">
            <a:extLst>
              <a:ext uri="{FF2B5EF4-FFF2-40B4-BE49-F238E27FC236}">
                <a16:creationId xmlns:a16="http://schemas.microsoft.com/office/drawing/2014/main" id="{15731141-0944-4856-A739-CCA52F4B1414}"/>
              </a:ext>
            </a:extLst>
          </p:cNvPr>
          <p:cNvSpPr txBox="1">
            <a:spLocks noChangeArrowheads="1"/>
          </p:cNvSpPr>
          <p:nvPr/>
        </p:nvSpPr>
        <p:spPr>
          <a:xfrm>
            <a:off x="497940" y="671843"/>
            <a:ext cx="7520448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 eaLnBrk="1" hangingPunct="1"/>
            <a:r>
              <a:rPr lang="en-US" altLang="en-US" sz="4000" kern="0" dirty="0">
                <a:latin typeface="Britannic Bold" panose="020B0903060703020204" pitchFamily="34" charset="0"/>
              </a:rPr>
              <a:t>What is Mathematics?</a:t>
            </a:r>
          </a:p>
        </p:txBody>
      </p:sp>
    </p:spTree>
    <p:extLst>
      <p:ext uri="{BB962C8B-B14F-4D97-AF65-F5344CB8AC3E}">
        <p14:creationId xmlns:p14="http://schemas.microsoft.com/office/powerpoint/2010/main" val="3130174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75F9A1-1DE7-420D-B28B-2FCACC9B1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33" y="1447801"/>
            <a:ext cx="8184333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28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0AFCF8-5249-4F73-B0AD-631A4772A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26" y="1419130"/>
            <a:ext cx="8220547" cy="401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652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E79CA2-E19E-4DD7-A947-8466AD440EA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981200"/>
            <a:ext cx="91440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000" kern="0" dirty="0">
                <a:latin typeface="Britannic Bold" panose="020B0903060703020204" pitchFamily="34" charset="0"/>
              </a:rPr>
              <a:t>What does it mean to learn Mathematics?</a:t>
            </a:r>
          </a:p>
        </p:txBody>
      </p:sp>
    </p:spTree>
    <p:extLst>
      <p:ext uri="{BB962C8B-B14F-4D97-AF65-F5344CB8AC3E}">
        <p14:creationId xmlns:p14="http://schemas.microsoft.com/office/powerpoint/2010/main" val="1006486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001301-A1AE-44FB-9C40-CA9EB450C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469" y="2668509"/>
            <a:ext cx="6953061" cy="220829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ABB0D71-69D3-4C4C-A2DC-0C3B9978B0E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52865"/>
            <a:ext cx="91440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4000" kern="0" dirty="0">
                <a:latin typeface="Britannic Bold" panose="020B0903060703020204" pitchFamily="34" charset="0"/>
              </a:rPr>
              <a:t>What does it mean to learn Mathematics?</a:t>
            </a:r>
          </a:p>
        </p:txBody>
      </p:sp>
    </p:spTree>
    <p:extLst>
      <p:ext uri="{BB962C8B-B14F-4D97-AF65-F5344CB8AC3E}">
        <p14:creationId xmlns:p14="http://schemas.microsoft.com/office/powerpoint/2010/main" val="4044713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86C840-2607-4DD1-A4DF-9BC1FA8A2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47" y="990600"/>
            <a:ext cx="8111905" cy="532796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2204DA23-9799-4CB3-AD2E-C23618CEB747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352865"/>
            <a:ext cx="91440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sz="3600" kern="0" dirty="0">
                <a:latin typeface="Britannic Bold" panose="020B0903060703020204" pitchFamily="34" charset="0"/>
              </a:rPr>
              <a:t>What does it mean to learn Mathematics?</a:t>
            </a:r>
          </a:p>
        </p:txBody>
      </p:sp>
    </p:spTree>
    <p:extLst>
      <p:ext uri="{BB962C8B-B14F-4D97-AF65-F5344CB8AC3E}">
        <p14:creationId xmlns:p14="http://schemas.microsoft.com/office/powerpoint/2010/main" val="4177210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14A1A2-ADAD-452D-AB8E-81CD9C0DCD57}"/>
              </a:ext>
            </a:extLst>
          </p:cNvPr>
          <p:cNvSpPr txBox="1"/>
          <p:nvPr/>
        </p:nvSpPr>
        <p:spPr>
          <a:xfrm>
            <a:off x="3962400" y="2401669"/>
            <a:ext cx="2819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haroni" panose="02010803020104030203" pitchFamily="2" charset="-79"/>
                <a:cs typeface="Aharoni" panose="02010803020104030203" pitchFamily="2" charset="-79"/>
              </a:rPr>
              <a:t>END</a:t>
            </a:r>
            <a:endParaRPr lang="en-GY" sz="3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8105547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124</Words>
  <Application>Microsoft Office PowerPoint</Application>
  <PresentationFormat>On-screen Show (4:3)</PresentationFormat>
  <Paragraphs>35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Aharoni</vt:lpstr>
      <vt:lpstr>Aparajita</vt:lpstr>
      <vt:lpstr>Arial</vt:lpstr>
      <vt:lpstr>Britannic Bold</vt:lpstr>
      <vt:lpstr>Wingdings</vt:lpstr>
      <vt:lpstr>Default Design</vt:lpstr>
      <vt:lpstr>PowerPoint Presentation</vt:lpstr>
      <vt:lpstr>Common Mistakes Teachers Make</vt:lpstr>
      <vt:lpstr>Common Mistakes Teachers Make</vt:lpstr>
      <vt:lpstr>Children Respond To: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Peter Wintz</cp:lastModifiedBy>
  <cp:revision>19</cp:revision>
  <dcterms:created xsi:type="dcterms:W3CDTF">2004-01-01T09:01:52Z</dcterms:created>
  <dcterms:modified xsi:type="dcterms:W3CDTF">2026-09-19T11:46:02Z</dcterms:modified>
</cp:coreProperties>
</file>